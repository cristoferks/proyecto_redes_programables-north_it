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3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2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95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0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1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5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26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6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3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70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00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8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BBF90E8-3520-4D69-AE55-169699453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0" r="-2" b="4621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20E6CE5C-BCEF-5274-F459-43DF30597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9" r="-2" b="27540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7" name="Freeform: Shape 86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6578C716-6B76-AB1B-B35D-D01B6C1C44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88349" y="3268366"/>
            <a:ext cx="5019074" cy="2774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s-PE" altLang="es-PE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Nombre del Equipo: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NORTH IT SUPPORT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s-PE" altLang="es-PE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Integrantes:</a:t>
            </a:r>
            <a:endParaRPr kumimoji="0" lang="es-PE" altLang="es-PE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Gabriel Alzamora (Scrum Master)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Diego Alcázar (QA &amp; Documentación)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Steek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Cornejo (Líder de Desarrollo)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Cristofer Gerónimo (Desarrollador)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Edwin Campos (Soporte Técnico)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DCBE83-EA84-78C3-1D58-8B3121379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475" y="1014989"/>
            <a:ext cx="4917948" cy="1335024"/>
          </a:xfrm>
        </p:spPr>
        <p:txBody>
          <a:bodyPr>
            <a:normAutofit/>
          </a:bodyPr>
          <a:lstStyle/>
          <a:p>
            <a:pPr algn="l"/>
            <a:r>
              <a:rPr lang="es-PE" altLang="es-PE" sz="2800" dirty="0">
                <a:latin typeface="Arial" panose="020B0604020202020204" pitchFamily="34" charset="0"/>
              </a:rPr>
              <a:t>Transformación de </a:t>
            </a:r>
            <a:r>
              <a:rPr lang="es-PE" altLang="es-PE" sz="2800" dirty="0" err="1">
                <a:latin typeface="Arial" panose="020B0604020202020204" pitchFamily="34" charset="0"/>
              </a:rPr>
              <a:t>Graphhopper</a:t>
            </a:r>
            <a:r>
              <a:rPr lang="es-PE" altLang="es-PE" sz="2800" dirty="0">
                <a:latin typeface="Arial" panose="020B0604020202020204" pitchFamily="34" charset="0"/>
              </a:rPr>
              <a:t>: De Script Local a Microservicio REST</a:t>
            </a:r>
            <a:endParaRPr lang="es-PE" sz="28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25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62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Mapa&#10;&#10;El contenido generado por IA puede ser incorrecto.">
            <a:extLst>
              <a:ext uri="{FF2B5EF4-FFF2-40B4-BE49-F238E27FC236}">
                <a16:creationId xmlns:a16="http://schemas.microsoft.com/office/drawing/2014/main" id="{F02ED03D-76AA-4302-4AE3-B6BE87471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5" r="10037" b="1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73" name="Freeform: Shape 64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4" name="Freeform: Shape 66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A85DA6-40A1-C14A-DCF6-B85BA5EE9553}"/>
              </a:ext>
            </a:extLst>
          </p:cNvPr>
          <p:cNvSpPr txBox="1"/>
          <p:nvPr/>
        </p:nvSpPr>
        <p:spPr>
          <a:xfrm>
            <a:off x="371094" y="1161288"/>
            <a:ext cx="3438144" cy="11257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Información de la Aplicación</a:t>
            </a:r>
            <a:endParaRPr lang="en-US" sz="2800" b="1">
              <a:latin typeface="+mj-lt"/>
              <a:ea typeface="+mj-ea"/>
              <a:cs typeface="+mj-cs"/>
            </a:endParaRPr>
          </a:p>
        </p:txBody>
      </p:sp>
      <p:sp>
        <p:nvSpPr>
          <p:cNvPr id="75" name="Rectangle 6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7B5546-50EE-DED3-E708-7E758FB7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94" y="2718054"/>
            <a:ext cx="3438906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s-PE" sz="1300" b="1" i="0" u="none" strike="noStrike" cap="none" normalizeH="0" baseline="0">
              <a:ln>
                <a:noFill/>
              </a:ln>
              <a:effectLst/>
            </a:endParaRPr>
          </a:p>
          <a:p>
            <a:pPr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PE" sz="1300" b="1" i="0" u="none" strike="noStrike" cap="none" normalizeH="0" baseline="0">
                <a:ln>
                  <a:noFill/>
                </a:ln>
                <a:effectLst/>
              </a:rPr>
              <a:t>Características Principales:</a:t>
            </a:r>
          </a:p>
          <a:p>
            <a:pPr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s-PE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PE" sz="1300" b="1" i="0" u="none" strike="noStrike" cap="none" normalizeH="0" baseline="0">
                <a:ln>
                  <a:noFill/>
                </a:ln>
                <a:effectLst/>
              </a:rPr>
              <a:t>Conversión a REST API:</a:t>
            </a:r>
            <a:r>
              <a:rPr kumimoji="0" lang="en-US" altLang="es-PE" sz="1300" b="0" i="0" u="none" strike="noStrike" cap="none" normalizeH="0" baseline="0">
                <a:ln>
                  <a:noFill/>
                </a:ln>
                <a:effectLst/>
              </a:rPr>
              <a:t> El código ahora responde a peticiones HTTP (utilizando Flask/FastAPI).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PE" sz="1300" b="1" i="0" u="none" strike="noStrike" cap="none" normalizeH="0" baseline="0">
                <a:ln>
                  <a:noFill/>
                </a:ln>
                <a:effectLst/>
              </a:rPr>
              <a:t>Geocodificación Avanzada:</a:t>
            </a:r>
            <a:r>
              <a:rPr kumimoji="0" lang="en-US" altLang="es-PE" sz="1300" b="0" i="0" u="none" strike="noStrike" cap="none" normalizeH="0" baseline="0">
                <a:ln>
                  <a:noFill/>
                </a:ln>
                <a:effectLst/>
              </a:rPr>
              <a:t> Traducción de texto a coordenadas para múltiples perfiles (coche, bici, pie).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PE" sz="1300" b="1" i="0" u="none" strike="noStrike" cap="none" normalizeH="0" baseline="0">
                <a:ln>
                  <a:noFill/>
                </a:ln>
                <a:effectLst/>
              </a:rPr>
              <a:t>Validación Robusta:</a:t>
            </a:r>
            <a:r>
              <a:rPr kumimoji="0" lang="en-US" altLang="es-PE" sz="1300" b="0" i="0" u="none" strike="noStrike" cap="none" normalizeH="0" baseline="0">
                <a:ln>
                  <a:noFill/>
                </a:ln>
                <a:effectLst/>
              </a:rPr>
              <a:t> Filtros que evitan caídas del sistema ante entradas vacías o caracteres especiales.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PE" sz="1300" b="1" i="0" u="none" strike="noStrike" cap="none" normalizeH="0" baseline="0">
                <a:ln>
                  <a:noFill/>
                </a:ln>
                <a:effectLst/>
              </a:rPr>
              <a:t>Logging de Auditoría:</a:t>
            </a:r>
            <a:r>
              <a:rPr kumimoji="0" lang="en-US" altLang="es-PE" sz="1300" b="0" i="0" u="none" strike="noStrike" cap="none" normalizeH="0" baseline="0">
                <a:ln>
                  <a:noFill/>
                </a:ln>
                <a:effectLst/>
              </a:rPr>
              <a:t> Registro automático de consultas exitosas en un archivo histórico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s-PE" sz="13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BAF859-381E-6AB8-776B-53FA6B1ED0A2}"/>
              </a:ext>
            </a:extLst>
          </p:cNvPr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7027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76EFD6-FE07-E915-2E7D-8D4C7E38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PE" altLang="es-PE" sz="3300" b="1">
                <a:solidFill>
                  <a:schemeClr val="tx2"/>
                </a:solidFill>
                <a:latin typeface="Arial" panose="020B0604020202020204" pitchFamily="34" charset="0"/>
              </a:rPr>
              <a:t> Justificación de características</a:t>
            </a:r>
            <a:br>
              <a:rPr lang="es-PE" altLang="es-PE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endParaRPr lang="es-PE" sz="3300">
              <a:solidFill>
                <a:schemeClr val="tx2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BAAA419-03C0-A0EF-C46D-B54228833D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72" y="2421683"/>
            <a:ext cx="4765949" cy="33534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Escalabilidad:</a:t>
            </a:r>
            <a:r>
              <a:rPr kumimoji="0" lang="es-PE" altLang="es-PE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Se eligió el modelo REST API para que cualquier app móvil o web pueda consumir nuestro servicio de rutas.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Estabilidad Profesional:</a:t>
            </a:r>
            <a:r>
              <a:rPr kumimoji="0" lang="es-PE" altLang="es-PE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La validación de coordenadas se implementó para reducir errores 400/401 y mejorar la experiencia del usuario.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Decisión Estratégica:</a:t>
            </a:r>
            <a:r>
              <a:rPr kumimoji="0" lang="es-PE" altLang="es-PE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Reutilizar el Lab 4.9.2 permitió al equipo enfocarse en la </a:t>
            </a:r>
            <a:r>
              <a:rPr kumimoji="0" lang="es-PE" altLang="es-PE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arquitectura</a:t>
            </a:r>
            <a:r>
              <a:rPr kumimoji="0" lang="es-PE" altLang="es-PE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y no solo en la lógica básica, transformando un ejercicio en una herramienta profesional.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895F074-2D75-EC19-F97D-51E465A5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7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0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39B5BF-6B25-ADB5-E95B-697E2EAC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Codificación Social y GitHub</a:t>
            </a:r>
          </a:p>
        </p:txBody>
      </p:sp>
      <p:sp>
        <p:nvSpPr>
          <p:cNvPr id="41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B5D2CC-FC31-E4F4-482B-B7D25255E875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Plataforma</a:t>
            </a:r>
            <a:r>
              <a:rPr lang="en-US" sz="1700"/>
              <a:t>: Uso de GitHub para el control de versiones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.</a:t>
            </a:r>
            <a:r>
              <a:rPr lang="en-US" sz="1700" b="1"/>
              <a:t>Estrategia de Ramificación </a:t>
            </a:r>
            <a:r>
              <a:rPr lang="en-US" sz="1700"/>
              <a:t>(Branching):main: Solo código en producción 100% probado.feature/: Ramas individuales (ej. feature/api-rest, feature/error-handling)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.Flujo de Trabajo</a:t>
            </a:r>
            <a:r>
              <a:rPr lang="en-US" sz="1700"/>
              <a:t>: Implementación de Pull Requests (PR). Ningún cambio se integró sin la revisión del Líder de Desarrollo o el Scrum Master.</a:t>
            </a:r>
            <a:endParaRPr lang="en-US" sz="1700" dirty="0"/>
          </a:p>
        </p:txBody>
      </p:sp>
      <p:pic>
        <p:nvPicPr>
          <p:cNvPr id="4098" name="Picture 2" descr="Qué es GitHub y por qué es útil en la actualidad 💻 | HACK A BOSS">
            <a:extLst>
              <a:ext uri="{FF2B5EF4-FFF2-40B4-BE49-F238E27FC236}">
                <a16:creationId xmlns:a16="http://schemas.microsoft.com/office/drawing/2014/main" id="{CC90F1F6-C535-35D0-1E33-E431CA1EA5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3"/>
            <a:ext cx="6903720" cy="460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23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83D8A7-70D5-B99D-7F4C-A7CA5019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MX" sz="4600" b="1"/>
              <a:t>Código y Documentación</a:t>
            </a:r>
            <a:br>
              <a:rPr lang="es-MX" sz="4600" b="1"/>
            </a:br>
            <a:endParaRPr lang="es-PE" sz="46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5A1451B-2E06-61F4-07EF-A0AAD957AB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94" r="3020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C685B20-7A8A-68C8-FAC4-81DEED7F8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b="1"/>
              <a:t>Lenguaje:</a:t>
            </a:r>
            <a:r>
              <a:rPr lang="es-MX" sz="2200"/>
              <a:t> Python con librerías requests y urllib.</a:t>
            </a:r>
          </a:p>
          <a:p>
            <a:pPr marL="0" indent="0">
              <a:buNone/>
            </a:pPr>
            <a:endParaRPr lang="es-MX" sz="2200"/>
          </a:p>
          <a:p>
            <a:r>
              <a:rPr lang="es-MX" sz="2200" b="1"/>
              <a:t>Documentación para otros equipos:</a:t>
            </a:r>
            <a:endParaRPr lang="es-MX" sz="2200"/>
          </a:p>
          <a:p>
            <a:pPr lvl="1"/>
            <a:r>
              <a:rPr lang="es-MX" sz="2200"/>
              <a:t>Comentarios detallados en cada función.</a:t>
            </a:r>
          </a:p>
          <a:p>
            <a:pPr lvl="1"/>
            <a:r>
              <a:rPr lang="es-MX" sz="2200"/>
              <a:t>Archivo README.md con instrucciones de instalación.</a:t>
            </a:r>
          </a:p>
          <a:p>
            <a:pPr lvl="1"/>
            <a:r>
              <a:rPr lang="es-MX" sz="2200"/>
              <a:t>Manejo de errores try-except para asegurar que el sistema no se detenga ante fallos de API.</a:t>
            </a:r>
          </a:p>
          <a:p>
            <a:endParaRPr lang="es-PE" sz="2200"/>
          </a:p>
        </p:txBody>
      </p:sp>
    </p:spTree>
    <p:extLst>
      <p:ext uri="{BB962C8B-B14F-4D97-AF65-F5344CB8AC3E}">
        <p14:creationId xmlns:p14="http://schemas.microsoft.com/office/powerpoint/2010/main" val="401110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0B6208-6C37-3FC2-AD90-26229C1E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PE" sz="5000"/>
              <a:t>Lista de Mejoras Futuras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BD058C-8387-A304-9C67-0E6FC2794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Interfaz Gráfica (GUI):</a:t>
            </a:r>
            <a:r>
              <a:rPr kumimoji="0" lang="es-PE" altLang="es-P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Implementación de un mapa visual dinámico.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Multiparada:</a:t>
            </a:r>
            <a:r>
              <a:rPr kumimoji="0" lang="es-PE" altLang="es-P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Capacidad de calcular rutas con puntos intermedios.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Tráfico en Tiempo Real:</a:t>
            </a:r>
            <a:r>
              <a:rPr kumimoji="0" lang="es-PE" altLang="es-P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Integración de datos de congestión vehicular.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Modo Offline:</a:t>
            </a:r>
            <a:r>
              <a:rPr kumimoji="0" lang="es-PE" altLang="es-P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Almacenamiento local de rutas frecuentes.</a:t>
            </a:r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70C35B63-8F02-AD92-12C2-64AD8F49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11" r="2290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4955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6" name="Rectangle 615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C5E7EB-CEEC-4B00-FA91-CA9032B3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PE" sz="5400"/>
              <a:t>Reflexiones y Aprendizajes</a:t>
            </a:r>
          </a:p>
        </p:txBody>
      </p:sp>
      <p:pic>
        <p:nvPicPr>
          <p:cNvPr id="6147" name="Picture 3" descr="Los mejores 11 editores para programar en Python">
            <a:extLst>
              <a:ext uri="{FF2B5EF4-FFF2-40B4-BE49-F238E27FC236}">
                <a16:creationId xmlns:a16="http://schemas.microsoft.com/office/drawing/2014/main" id="{28EA0D0B-2445-0761-60A2-C20AE76CE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8" r="35528"/>
          <a:stretch>
            <a:fillRect/>
          </a:stretch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6973A4-C004-F63E-A0AA-7B58BC111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Desafíos:</a:t>
            </a:r>
            <a:r>
              <a:rPr kumimoji="0" lang="es-PE" altLang="es-PE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Conflictos al fusionar ramas en GitHub y manejo de estructuras JSON anidadas.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Soluciones:</a:t>
            </a:r>
            <a:r>
              <a:rPr kumimoji="0" lang="es-PE" altLang="es-PE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Uso de Trello para organización, reuniones en Google Meet y comunicación vía WhatsApp.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Lección Aprendida:</a:t>
            </a:r>
            <a:r>
              <a:rPr kumimoji="0" lang="es-PE" altLang="es-PE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"La automatización de redes requiere no solo código, sino una comunicación impecable". El uso de herramientas Agile fue fundamental para el éxito de </a:t>
            </a:r>
            <a:r>
              <a:rPr kumimoji="0" lang="es-PE" altLang="es-PE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NORTH IT SUPPORT</a:t>
            </a:r>
            <a:r>
              <a:rPr kumimoji="0" lang="es-PE" altLang="es-PE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37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</TotalTime>
  <Words>441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Calibri</vt:lpstr>
      <vt:lpstr>Calibri Light</vt:lpstr>
      <vt:lpstr>Office 2013 - Tema de 2022</vt:lpstr>
      <vt:lpstr>  Nombre del Equipo: NORTH IT SUPPORT   Integrantes: Gabriel Alzamora (Scrum Master) Diego Alcázar (QA &amp; Documentación) Steek Cornejo (Líder de Desarrollo) Cristofer Gerónimo (Desarrollador) Edwin Campos (Soporte Técnico) </vt:lpstr>
      <vt:lpstr>Presentación de PowerPoint</vt:lpstr>
      <vt:lpstr> Justificación de características </vt:lpstr>
      <vt:lpstr>Codificación Social y GitHub</vt:lpstr>
      <vt:lpstr>Código y Documentación </vt:lpstr>
      <vt:lpstr>Lista de Mejoras Futuras</vt:lpstr>
      <vt:lpstr>Reflexiones y Aprendizajes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I202406856 (ALCAZAR VILCA,DIEGO ABELARDO)</dc:creator>
  <cp:lastModifiedBy>I202406856 (ALCAZAR VILCA,DIEGO ABELARDO)</cp:lastModifiedBy>
  <cp:revision>1</cp:revision>
  <dcterms:created xsi:type="dcterms:W3CDTF">2026-03-01T10:44:02Z</dcterms:created>
  <dcterms:modified xsi:type="dcterms:W3CDTF">2026-03-01T11:56:26Z</dcterms:modified>
</cp:coreProperties>
</file>